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embeddedFontLst>
    <p:embeddedFont>
      <p:font typeface="Arial Unicode MS" panose="020B0604020202020204" pitchFamily="50" charset="-127"/>
      <p:regular r:id="rId8"/>
    </p:embeddedFont>
    <p:embeddedFont>
      <p:font typeface="KoPub돋움체 Medium" panose="00000600000000000000" pitchFamily="2" charset="-127"/>
      <p:regular r:id="rId9"/>
    </p:embeddedFont>
    <p:embeddedFont>
      <p:font typeface="KoPub돋움체 Bold" panose="00000800000000000000" pitchFamily="2" charset="-127"/>
      <p:bold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C24"/>
    <a:srgbClr val="B923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1" autoAdjust="0"/>
    <p:restoredTop sz="85225" autoAdjust="0"/>
  </p:normalViewPr>
  <p:slideViewPr>
    <p:cSldViewPr snapToGrid="0">
      <p:cViewPr varScale="1">
        <p:scale>
          <a:sx n="99" d="100"/>
          <a:sy n="99" d="100"/>
        </p:scale>
        <p:origin x="1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59A46-6F94-4067-854D-4A976702DCB7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C2855-7AE4-4A5E-89FA-38B549FCA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334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2855-7AE4-4A5E-89FA-38B549FCA98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18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2855-7AE4-4A5E-89FA-38B549FCA98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06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C2855-7AE4-4A5E-89FA-38B549FCA98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01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1285FC-A09D-DC03-D364-105631B0E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7D57BDDE-6F60-B4FD-6069-4556546FA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BF588AE-982A-C7CB-D13F-28BA8810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CE89F20-C0DF-C0A5-DDA0-3AB12722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1EA0E24-EFA4-677E-6F90-F831220B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79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AA9D20A-9207-8C54-CDCB-DB703532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D910784-FE8A-119D-AD45-42B786A84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589341B-CA60-E090-B275-68972B93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9BBE90E-8E79-1907-34DE-4A8393F4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A218FD-DBC5-1CA5-643D-342EAD61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48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B05AD68-70C5-6A71-E87F-DC7DD5691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BB9EB4DD-0C29-196D-5454-51C422E93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CD329FC-FE88-5688-78B4-BEA663B3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12291D6-9607-BAB6-EB6F-AA46FF29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CA188C7-9FF7-1C40-E28E-8631F859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61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EDE6833-0FED-12ED-DAD1-B7CEC10E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177C260-FD9D-1798-5903-6EF3CE0D9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AFD25CFD-21A3-174C-6DB1-4615E38CE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701CF442-621C-066F-F1F1-7606AEAD7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A40575D-38EC-F1CE-4DB1-2E405357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8DB11B0-CA90-7B66-8DD0-1E5E3EDB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82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C964B4-2DD8-C00A-F561-98917C92B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EF61915-DF62-64DE-E440-63D85C5EB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3089A04-6428-F299-08FC-EA099CA0E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B4CA4CB6-7B97-E444-D3A9-90E97479F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13E7FCA3-64C8-9BCD-7E3A-04937CD2A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FCBD435A-9C5F-6C3C-9669-060CDE45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6A75C9E9-9824-E496-3084-0D1FB3B1F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9247AEAD-3E8F-B972-13C3-2512AB7C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30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E684D9F-59F5-570F-14C3-5CEE99D8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9AA18D1C-1B5E-31BE-36AC-914B3C466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9F9F0B6-4DBB-CB7D-E8B5-616AF201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60389456-C482-5485-6EDA-F1211788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250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B68674AA-4760-A627-C124-DBDF2E348ED6}"/>
              </a:ext>
            </a:extLst>
          </p:cNvPr>
          <p:cNvSpPr/>
          <p:nvPr userDrawn="1"/>
        </p:nvSpPr>
        <p:spPr>
          <a:xfrm>
            <a:off x="8817429" y="0"/>
            <a:ext cx="3374571" cy="6858000"/>
          </a:xfrm>
          <a:prstGeom prst="rect">
            <a:avLst/>
          </a:prstGeom>
          <a:gradFill flip="none" rotWithShape="1">
            <a:gsLst>
              <a:gs pos="0">
                <a:srgbClr val="B9235A">
                  <a:shade val="30000"/>
                  <a:satMod val="115000"/>
                </a:srgbClr>
              </a:gs>
              <a:gs pos="50000">
                <a:srgbClr val="B9235A">
                  <a:shade val="67500"/>
                  <a:satMod val="115000"/>
                </a:srgbClr>
              </a:gs>
              <a:gs pos="100000">
                <a:srgbClr val="B9235A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평행 사변형 6">
            <a:extLst>
              <a:ext uri="{FF2B5EF4-FFF2-40B4-BE49-F238E27FC236}">
                <a16:creationId xmlns:a16="http://schemas.microsoft.com/office/drawing/2014/main" xmlns="" id="{59ADD9A5-B806-6D55-15E9-32838CAFF72A}"/>
              </a:ext>
            </a:extLst>
          </p:cNvPr>
          <p:cNvSpPr/>
          <p:nvPr userDrawn="1"/>
        </p:nvSpPr>
        <p:spPr>
          <a:xfrm rot="296755">
            <a:off x="9429914" y="-248401"/>
            <a:ext cx="1257082" cy="7165928"/>
          </a:xfrm>
          <a:prstGeom prst="parallelogram">
            <a:avLst>
              <a:gd name="adj" fmla="val 4825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87000">
                <a:schemeClr val="bg2">
                  <a:lumMod val="60000"/>
                  <a:alpha val="27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평행 사변형 7">
            <a:extLst>
              <a:ext uri="{FF2B5EF4-FFF2-40B4-BE49-F238E27FC236}">
                <a16:creationId xmlns:a16="http://schemas.microsoft.com/office/drawing/2014/main" xmlns="" id="{8196E72C-6260-875C-358B-5E4B7ADA53B8}"/>
              </a:ext>
            </a:extLst>
          </p:cNvPr>
          <p:cNvSpPr/>
          <p:nvPr userDrawn="1"/>
        </p:nvSpPr>
        <p:spPr>
          <a:xfrm rot="296755">
            <a:off x="10226898" y="-247427"/>
            <a:ext cx="1064601" cy="7165928"/>
          </a:xfrm>
          <a:prstGeom prst="parallelogram">
            <a:avLst>
              <a:gd name="adj" fmla="val 4825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87000">
                <a:schemeClr val="bg2">
                  <a:lumMod val="60000"/>
                  <a:alpha val="27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xmlns="" id="{A885E3EC-1480-BFF4-6549-1B20B826954C}"/>
              </a:ext>
            </a:extLst>
          </p:cNvPr>
          <p:cNvSpPr/>
          <p:nvPr userDrawn="1"/>
        </p:nvSpPr>
        <p:spPr>
          <a:xfrm rot="296755">
            <a:off x="10928345" y="-246415"/>
            <a:ext cx="864631" cy="7165928"/>
          </a:xfrm>
          <a:prstGeom prst="parallelogram">
            <a:avLst>
              <a:gd name="adj" fmla="val 4825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87000">
                <a:schemeClr val="bg2">
                  <a:lumMod val="60000"/>
                  <a:alpha val="27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xmlns="" id="{5C6F5992-7DF4-621D-5F4C-16C54173DBC7}"/>
              </a:ext>
            </a:extLst>
          </p:cNvPr>
          <p:cNvSpPr/>
          <p:nvPr userDrawn="1"/>
        </p:nvSpPr>
        <p:spPr>
          <a:xfrm rot="296755">
            <a:off x="11550849" y="-245455"/>
            <a:ext cx="674791" cy="7165928"/>
          </a:xfrm>
          <a:prstGeom prst="parallelogram">
            <a:avLst>
              <a:gd name="adj" fmla="val 4825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87000">
                <a:schemeClr val="bg2">
                  <a:lumMod val="60000"/>
                  <a:alpha val="27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94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9E8EEAF-CDA3-55D1-63DC-853EEADD06BE}"/>
              </a:ext>
            </a:extLst>
          </p:cNvPr>
          <p:cNvSpPr/>
          <p:nvPr userDrawn="1"/>
        </p:nvSpPr>
        <p:spPr>
          <a:xfrm>
            <a:off x="0" y="0"/>
            <a:ext cx="12192000" cy="811761"/>
          </a:xfrm>
          <a:prstGeom prst="rect">
            <a:avLst/>
          </a:prstGeom>
          <a:gradFill flip="none" rotWithShape="1">
            <a:gsLst>
              <a:gs pos="0">
                <a:srgbClr val="B9235A">
                  <a:shade val="30000"/>
                  <a:satMod val="115000"/>
                </a:srgbClr>
              </a:gs>
              <a:gs pos="50000">
                <a:srgbClr val="B9235A">
                  <a:shade val="67500"/>
                  <a:satMod val="115000"/>
                </a:srgbClr>
              </a:gs>
              <a:gs pos="100000">
                <a:srgbClr val="B9235A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860C52DB-D2CF-0983-F66A-7DE973DDB2C3}"/>
              </a:ext>
            </a:extLst>
          </p:cNvPr>
          <p:cNvCxnSpPr/>
          <p:nvPr userDrawn="1"/>
        </p:nvCxnSpPr>
        <p:spPr>
          <a:xfrm>
            <a:off x="410547" y="6503437"/>
            <a:ext cx="1131803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09EBD86-C83D-795C-8BCC-5BD00AEF2EB0}"/>
              </a:ext>
            </a:extLst>
          </p:cNvPr>
          <p:cNvSpPr txBox="1"/>
          <p:nvPr userDrawn="1"/>
        </p:nvSpPr>
        <p:spPr>
          <a:xfrm>
            <a:off x="357672" y="6503437"/>
            <a:ext cx="26965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dirty="0">
                <a:gradFill>
                  <a:gsLst>
                    <a:gs pos="83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충북대학교 산업인공지능학과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D21A28D-64AB-7A4C-B42D-AD246DB71158}"/>
              </a:ext>
            </a:extLst>
          </p:cNvPr>
          <p:cNvSpPr txBox="1"/>
          <p:nvPr userDrawn="1"/>
        </p:nvSpPr>
        <p:spPr>
          <a:xfrm>
            <a:off x="9084908" y="6503437"/>
            <a:ext cx="26965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smtClean="0">
                <a:gradFill>
                  <a:gsLst>
                    <a:gs pos="83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패턴인식</a:t>
            </a:r>
            <a:endParaRPr lang="ko-KR" altLang="en-US" sz="1000" dirty="0">
              <a:gradFill>
                <a:gsLst>
                  <a:gs pos="83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xmlns="" id="{EFBC401D-2F30-3D71-E649-AD321ACFC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3437"/>
            <a:ext cx="4114800" cy="246221"/>
          </a:xfrm>
          <a:noFill/>
        </p:spPr>
        <p:txBody>
          <a:bodyPr wrap="square" rtlCol="0">
            <a:spAutoFit/>
          </a:bodyPr>
          <a:lstStyle>
            <a:lvl1pPr algn="ctr">
              <a:defRPr lang="ko-KR" altLang="en-US" sz="1000">
                <a:gradFill>
                  <a:gsLst>
                    <a:gs pos="83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xmlns="" id="{C7B332B2-287F-FF36-9D47-4B810916AB12}"/>
              </a:ext>
            </a:extLst>
          </p:cNvPr>
          <p:cNvSpPr/>
          <p:nvPr userDrawn="1"/>
        </p:nvSpPr>
        <p:spPr>
          <a:xfrm>
            <a:off x="10433181" y="0"/>
            <a:ext cx="401216" cy="811760"/>
          </a:xfrm>
          <a:prstGeom prst="parallelogram">
            <a:avLst>
              <a:gd name="adj" fmla="val 48256"/>
            </a:avLst>
          </a:prstGeom>
          <a:gradFill>
            <a:gsLst>
              <a:gs pos="0">
                <a:schemeClr val="bg1">
                  <a:alpha val="30000"/>
                </a:schemeClr>
              </a:gs>
              <a:gs pos="87000">
                <a:schemeClr val="bg2">
                  <a:alpha val="43000"/>
                  <a:lumMod val="60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xmlns="" id="{75220167-507C-04B5-B03A-CA540D2DCBA8}"/>
              </a:ext>
            </a:extLst>
          </p:cNvPr>
          <p:cNvSpPr/>
          <p:nvPr userDrawn="1"/>
        </p:nvSpPr>
        <p:spPr>
          <a:xfrm>
            <a:off x="10845282" y="0"/>
            <a:ext cx="401216" cy="811760"/>
          </a:xfrm>
          <a:prstGeom prst="parallelogram">
            <a:avLst>
              <a:gd name="adj" fmla="val 48256"/>
            </a:avLst>
          </a:prstGeom>
          <a:gradFill>
            <a:gsLst>
              <a:gs pos="0">
                <a:schemeClr val="bg1">
                  <a:alpha val="30000"/>
                </a:schemeClr>
              </a:gs>
              <a:gs pos="87000">
                <a:schemeClr val="bg2">
                  <a:alpha val="43000"/>
                  <a:lumMod val="60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평행 사변형 15">
            <a:extLst>
              <a:ext uri="{FF2B5EF4-FFF2-40B4-BE49-F238E27FC236}">
                <a16:creationId xmlns:a16="http://schemas.microsoft.com/office/drawing/2014/main" xmlns="" id="{5540C4DC-777F-46F1-6CC3-A0DE02AB8E53}"/>
              </a:ext>
            </a:extLst>
          </p:cNvPr>
          <p:cNvSpPr/>
          <p:nvPr userDrawn="1"/>
        </p:nvSpPr>
        <p:spPr>
          <a:xfrm>
            <a:off x="11105761" y="0"/>
            <a:ext cx="401216" cy="811760"/>
          </a:xfrm>
          <a:prstGeom prst="parallelogram">
            <a:avLst>
              <a:gd name="adj" fmla="val 48256"/>
            </a:avLst>
          </a:prstGeom>
          <a:gradFill>
            <a:gsLst>
              <a:gs pos="0">
                <a:schemeClr val="bg1">
                  <a:alpha val="30000"/>
                </a:schemeClr>
              </a:gs>
              <a:gs pos="87000">
                <a:schemeClr val="bg2">
                  <a:alpha val="43000"/>
                  <a:lumMod val="60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평행 사변형 16">
            <a:extLst>
              <a:ext uri="{FF2B5EF4-FFF2-40B4-BE49-F238E27FC236}">
                <a16:creationId xmlns:a16="http://schemas.microsoft.com/office/drawing/2014/main" xmlns="" id="{41B3A297-4304-3215-229F-7B435E1BA8D0}"/>
              </a:ext>
            </a:extLst>
          </p:cNvPr>
          <p:cNvSpPr/>
          <p:nvPr userDrawn="1"/>
        </p:nvSpPr>
        <p:spPr>
          <a:xfrm>
            <a:off x="11353799" y="0"/>
            <a:ext cx="401216" cy="811760"/>
          </a:xfrm>
          <a:prstGeom prst="parallelogram">
            <a:avLst>
              <a:gd name="adj" fmla="val 48256"/>
            </a:avLst>
          </a:prstGeom>
          <a:gradFill>
            <a:gsLst>
              <a:gs pos="0">
                <a:schemeClr val="bg1">
                  <a:alpha val="30000"/>
                </a:schemeClr>
              </a:gs>
              <a:gs pos="87000">
                <a:schemeClr val="bg2">
                  <a:alpha val="43000"/>
                  <a:lumMod val="60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xmlns="" id="{8A5F51AD-E6AD-DE69-3C34-1D1281E058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0328" y="108342"/>
            <a:ext cx="5076825" cy="625475"/>
          </a:xfrm>
        </p:spPr>
        <p:txBody>
          <a:bodyPr anchor="b"/>
          <a:lstStyle>
            <a:lvl1pPr marL="0" indent="0">
              <a:buNone/>
              <a:defRPr b="0">
                <a:gradFill>
                  <a:gsLst>
                    <a:gs pos="5000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l="100000" b="100000"/>
                  </a:path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타이틀</a:t>
            </a:r>
          </a:p>
        </p:txBody>
      </p:sp>
    </p:spTree>
    <p:extLst>
      <p:ext uri="{BB962C8B-B14F-4D97-AF65-F5344CB8AC3E}">
        <p14:creationId xmlns:p14="http://schemas.microsoft.com/office/powerpoint/2010/main" val="29804494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0E3CE4E-136A-1FEE-C0B9-9EC55CB82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26C0750-BA4A-EBBF-E7C3-0533483EE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BB1E1DA1-2B93-5EB5-533B-CF5E23FCA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857E735-445B-9142-BB82-637E246C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9401ECB3-E0BA-8E65-76EA-A10BA12B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74B0712-4A5D-3AF5-8CAF-6B83FC83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349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2A085F1-AF43-81A0-11DE-5EAAC0C2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0A9F3ED8-372E-BE30-53B5-7D759AA1C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12F20FF-0452-18C6-9608-B35D027FA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313F5F6-6171-725A-5B57-AB4680E3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3521A62-2F2F-8CF4-2D12-9DA540E3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AE726642-BD6E-4F1D-956A-618826C3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32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375DD5-B524-3823-B3D1-ABE5C8CD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37CAFEB4-4349-5825-5E39-95C7369C4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070DB67-CEAC-68F3-61B4-E45635E1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CEA8AD0-F230-A72B-E714-543871004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B400621-6044-5256-38B4-020C4A0E2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7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B89C316A-415B-A8D1-9B5A-1E4A20F29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84840E0-8B6B-6A7A-7C77-75D8F602A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643448E-4AF5-2526-6C40-904497E6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8C1FF01-CD23-CD06-01C2-35433399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0EAC835-94A7-5438-5A2E-30877EAE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41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BDAD480D-E8BF-4BED-1F17-7BC4DEDE1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00CB54F-9740-5D44-F462-8193304D4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4056148-BD63-14C5-5C16-12BAB6C3D0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DC04D-FC20-4513-892D-FDE77436788F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200D65A-218E-8ED9-BBEF-18010259A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B76C060-006D-92A6-0CEF-AF0D373C5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ECCA0-7B5A-4C65-BF96-7D43B5C5E3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44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1114775-A664-F239-1798-159697199E5D}"/>
              </a:ext>
            </a:extLst>
          </p:cNvPr>
          <p:cNvSpPr txBox="1"/>
          <p:nvPr/>
        </p:nvSpPr>
        <p:spPr>
          <a:xfrm>
            <a:off x="6304203" y="3640381"/>
            <a:ext cx="2374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smtClean="0">
                <a:gradFill>
                  <a:gsLst>
                    <a:gs pos="8300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2025254009 </a:t>
            </a:r>
            <a:r>
              <a:rPr lang="ko-KR" altLang="en-US" sz="2000" smtClean="0">
                <a:gradFill>
                  <a:gsLst>
                    <a:gs pos="8300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추정원</a:t>
            </a:r>
            <a:endParaRPr lang="ko-KR" altLang="en-US" sz="2000" dirty="0">
              <a:gradFill>
                <a:gsLst>
                  <a:gs pos="8300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D4B2417-2E51-2F08-FD61-BFF0A7F52732}"/>
              </a:ext>
            </a:extLst>
          </p:cNvPr>
          <p:cNvSpPr txBox="1"/>
          <p:nvPr/>
        </p:nvSpPr>
        <p:spPr>
          <a:xfrm>
            <a:off x="4922416" y="2670886"/>
            <a:ext cx="3756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ko-KR" altLang="en-US" sz="3200" b="1"/>
              <a:t>교량 </a:t>
            </a:r>
            <a:r>
              <a:rPr lang="ko-KR" altLang="en-US" sz="3200" b="1" smtClean="0"/>
              <a:t>외관 이상탐지</a:t>
            </a:r>
            <a:endParaRPr lang="ko-KR" altLang="en-US" sz="32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8FCC0B3-9C6B-14EF-F7CD-73BFB1B85B7D}"/>
              </a:ext>
            </a:extLst>
          </p:cNvPr>
          <p:cNvSpPr txBox="1"/>
          <p:nvPr/>
        </p:nvSpPr>
        <p:spPr>
          <a:xfrm>
            <a:off x="3925958" y="3255661"/>
            <a:ext cx="4667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gradFill>
                  <a:gsLst>
                    <a:gs pos="83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충북대학교 산업인공지능학과 </a:t>
            </a:r>
            <a:r>
              <a:rPr lang="en-US" altLang="ko-KR" sz="1400" dirty="0">
                <a:gradFill>
                  <a:gsLst>
                    <a:gs pos="83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|</a:t>
            </a:r>
            <a:r>
              <a:rPr lang="ko-KR" altLang="en-US" sz="1400" dirty="0">
                <a:gradFill>
                  <a:gsLst>
                    <a:gs pos="83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>
                <a:gradFill>
                  <a:gsLst>
                    <a:gs pos="83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2025-2 </a:t>
            </a:r>
            <a:r>
              <a:rPr lang="ko-KR" altLang="en-US" sz="1400" smtClean="0">
                <a:gradFill>
                  <a:gsLst>
                    <a:gs pos="83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패턴인식</a:t>
            </a:r>
            <a:endParaRPr lang="en-US" altLang="ko-KR" sz="1400" dirty="0">
              <a:gradFill>
                <a:gsLst>
                  <a:gs pos="83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895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85388C-A545-7FF9-6D4C-577DFBE5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="" id="{50AF4B04-7BAD-2D9A-F9FE-B70266884C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주제 선정과 목표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40516" y="1001648"/>
            <a:ext cx="10524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교량 외관점검용 입면정사영상</a:t>
            </a:r>
            <a:r>
              <a:rPr lang="en-US" altLang="ko-KR"/>
              <a:t>(</a:t>
            </a:r>
            <a:r>
              <a:rPr lang="en-US" altLang="ko-KR"/>
              <a:t>512×512</a:t>
            </a:r>
            <a:r>
              <a:rPr lang="en-US" altLang="ko-KR" smtClean="0"/>
              <a:t>)</a:t>
            </a:r>
            <a:r>
              <a:rPr lang="ko-KR" altLang="en-US"/>
              <a:t>에서 </a:t>
            </a:r>
            <a:r>
              <a:rPr lang="ko-KR" altLang="en-US" smtClean="0"/>
              <a:t>시각적 이상을 자동으로 탐지하는 알고리즘 구현 수행</a:t>
            </a: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40515" y="1443917"/>
            <a:ext cx="11500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우리나라를 포함한 대부분의 국가에서는 교량 구조물의 안전 확보를 위해 </a:t>
            </a:r>
            <a:r>
              <a:rPr lang="ko-KR" altLang="en-US"/>
              <a:t>정기적인 </a:t>
            </a:r>
            <a:r>
              <a:rPr lang="ko-KR" altLang="en-US" smtClean="0"/>
              <a:t>외관점검을 수행하지만</a:t>
            </a:r>
            <a:r>
              <a:rPr lang="en-US" altLang="ko-KR" smtClean="0"/>
              <a:t> </a:t>
            </a:r>
            <a:r>
              <a:rPr lang="ko-KR" altLang="en-US" smtClean="0"/>
              <a:t>기존의 </a:t>
            </a:r>
            <a:r>
              <a:rPr lang="ko-KR" altLang="en-US"/>
              <a:t>점검 방식은 육안검사에 </a:t>
            </a:r>
            <a:r>
              <a:rPr lang="ko-KR" altLang="en-US"/>
              <a:t>크게 </a:t>
            </a:r>
            <a:r>
              <a:rPr lang="ko-KR" altLang="en-US" smtClean="0"/>
              <a:t>의존하여 점검자의 주관성 및 비용부담이 증가함</a:t>
            </a:r>
            <a:endParaRPr lang="en-US" altLang="ko-KR" smtClean="0"/>
          </a:p>
        </p:txBody>
      </p:sp>
      <p:sp>
        <p:nvSpPr>
          <p:cNvPr id="12" name="직사각형 11"/>
          <p:cNvSpPr/>
          <p:nvPr/>
        </p:nvSpPr>
        <p:spPr>
          <a:xfrm>
            <a:off x="1022698" y="5443957"/>
            <a:ext cx="105363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/>
              <a:t>대부분의 산업결함 </a:t>
            </a:r>
            <a:r>
              <a:rPr lang="ko-KR" altLang="en-US"/>
              <a:t>검출 </a:t>
            </a:r>
            <a:r>
              <a:rPr lang="ko-KR" altLang="en-US" smtClean="0"/>
              <a:t>문제들은 </a:t>
            </a:r>
            <a:endParaRPr lang="en-US" altLang="ko-KR" smtClean="0"/>
          </a:p>
          <a:p>
            <a:pPr algn="r"/>
            <a:r>
              <a:rPr lang="ko-KR" altLang="en-US" b="1" smtClean="0"/>
              <a:t>정상 </a:t>
            </a:r>
            <a:r>
              <a:rPr lang="ko-KR" altLang="en-US" b="1"/>
              <a:t>데이터는 풍부하나 결함 데이터는 매우 적거나 </a:t>
            </a:r>
            <a:r>
              <a:rPr lang="ko-KR" altLang="en-US" b="1"/>
              <a:t>다양하다는 </a:t>
            </a:r>
            <a:endParaRPr lang="en-US" altLang="ko-KR" b="1" smtClean="0"/>
          </a:p>
          <a:p>
            <a:pPr algn="r"/>
            <a:r>
              <a:rPr lang="ko-KR" altLang="en-US" smtClean="0"/>
              <a:t>특징이 있어 이상패턴 검출에 용이하여 선정</a:t>
            </a:r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4C51DE93-7B18-E847-7611-F514392AE7FB}"/>
              </a:ext>
            </a:extLst>
          </p:cNvPr>
          <p:cNvSpPr/>
          <p:nvPr/>
        </p:nvSpPr>
        <p:spPr>
          <a:xfrm>
            <a:off x="11598965" y="5425756"/>
            <a:ext cx="119270" cy="934278"/>
          </a:xfrm>
          <a:prstGeom prst="rect">
            <a:avLst/>
          </a:prstGeom>
          <a:solidFill>
            <a:srgbClr val="B923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546" y="2179225"/>
            <a:ext cx="3409533" cy="342030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15" y="2179225"/>
            <a:ext cx="3160200" cy="384648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799" y="2179225"/>
            <a:ext cx="3216050" cy="327211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784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DD78F89-B12D-0BCB-66B8-2113FB6DE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목표 및 데이터셋</a:t>
            </a:r>
          </a:p>
        </p:txBody>
      </p:sp>
      <p:pic>
        <p:nvPicPr>
          <p:cNvPr id="10" name="Picture 10" descr="데이터 예시_강제 부식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401" y="4282560"/>
            <a:ext cx="2377315" cy="169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데이터 예시_아스팔트 균열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509" y="4282560"/>
            <a:ext cx="2377315" cy="169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데이터 예시_박락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740" y="2210749"/>
            <a:ext cx="2377315" cy="169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데이터 예시_백태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28" y="2210751"/>
            <a:ext cx="2377315" cy="169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데이터 예시_누수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329" y="2210748"/>
            <a:ext cx="2377315" cy="169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B41DE77-A12C-362E-8112-02F21F04A305}"/>
              </a:ext>
            </a:extLst>
          </p:cNvPr>
          <p:cNvSpPr txBox="1"/>
          <p:nvPr/>
        </p:nvSpPr>
        <p:spPr>
          <a:xfrm>
            <a:off x="640274" y="1038666"/>
            <a:ext cx="902811" cy="338554"/>
          </a:xfrm>
          <a:prstGeom prst="rect">
            <a:avLst/>
          </a:prstGeom>
          <a:solidFill>
            <a:srgbClr val="B9235A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mtClean="0">
                <a:gradFill>
                  <a:gsLst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데이터셋</a:t>
            </a:r>
            <a:endParaRPr lang="ko-KR" altLang="en-US" sz="1600" dirty="0">
              <a:gradFill>
                <a:gsLst>
                  <a:gs pos="8300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733853" y="1038666"/>
            <a:ext cx="3892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b="1">
                <a:solidFill>
                  <a:srgbClr val="000000"/>
                </a:solidFill>
                <a:latin typeface="Roboto"/>
              </a:rPr>
              <a:t>교량 외관점검 입면정사영상 데이터</a:t>
            </a:r>
            <a:endParaRPr lang="ko-KR" altLang="en-US" b="1" i="0">
              <a:solidFill>
                <a:srgbClr val="000000"/>
              </a:solidFill>
              <a:effectLst/>
              <a:latin typeface="Roboto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40274" y="1536570"/>
            <a:ext cx="10505781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666666"/>
                </a:solidFill>
                <a:effectLst/>
                <a:latin typeface="Arial Unicode MS" panose="020B0604020202020204" pitchFamily="50" charset="-127"/>
                <a:ea typeface="inherit"/>
              </a:rPr>
              <a:t>교량의 균열, 박락, 백태, 누수, 함몰, 요철, 강재 부식, 강재 박리 등 위험등급을 자동으로 평가하기 위한 교량 외관점검 학습용 데이터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640274" y="1778591"/>
            <a:ext cx="11459868" cy="264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666666"/>
                </a:solidFill>
                <a:effectLst/>
                <a:latin typeface="Arial Unicode MS" panose="020B0604020202020204" pitchFamily="50" charset="-127"/>
                <a:ea typeface="inherit"/>
              </a:rPr>
              <a:t>교량 등급(1~3등급), 교량 종류 등 다양성이 반영된 교량 연장 최소 10km 이상을 대상으로 실제 교량 외관 점검 시 활용되는 교량 동영상 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666666"/>
                </a:solidFill>
                <a:effectLst/>
                <a:latin typeface="Arial Unicode MS" panose="020B0604020202020204" pitchFamily="50" charset="-127"/>
                <a:ea typeface="inherit"/>
              </a:rPr>
              <a:t>및 </a:t>
            </a:r>
            <a:r>
              <a:rPr kumimoji="0" lang="ko-KR" altLang="ko-KR" sz="1300" b="0" i="0" u="none" strike="noStrike" cap="none" normalizeH="0" baseline="0" smtClean="0">
                <a:ln>
                  <a:noFill/>
                </a:ln>
                <a:solidFill>
                  <a:srgbClr val="666666"/>
                </a:solidFill>
                <a:effectLst/>
                <a:latin typeface="Arial Unicode MS" panose="020B0604020202020204" pitchFamily="50" charset="-127"/>
                <a:ea typeface="inherit"/>
              </a:rPr>
              <a:t>입면정사</a:t>
            </a:r>
            <a:r>
              <a:rPr kumimoji="0" lang="en-US" altLang="ko-KR" sz="1300" b="0" i="0" u="none" strike="noStrike" cap="none" normalizeH="0" baseline="0" smtClean="0">
                <a:ln>
                  <a:noFill/>
                </a:ln>
                <a:solidFill>
                  <a:srgbClr val="666666"/>
                </a:solidFill>
                <a:effectLst/>
                <a:latin typeface="Arial Unicode MS" panose="020B0604020202020204" pitchFamily="50" charset="-127"/>
                <a:ea typeface="inherit"/>
              </a:rPr>
              <a:t> </a:t>
            </a:r>
            <a:r>
              <a:rPr kumimoji="0" lang="ko-KR" altLang="en-US" sz="1300" b="0" i="0" u="none" strike="noStrike" cap="none" normalizeH="0" baseline="0" smtClean="0">
                <a:ln>
                  <a:noFill/>
                </a:ln>
                <a:solidFill>
                  <a:srgbClr val="666666"/>
                </a:solidFill>
                <a:effectLst/>
                <a:latin typeface="Arial Unicode MS" panose="020B0604020202020204" pitchFamily="50" charset="-127"/>
                <a:ea typeface="inherit"/>
              </a:rPr>
              <a:t>이미지</a:t>
            </a:r>
            <a:r>
              <a:rPr kumimoji="0" lang="ko-KR" altLang="ko-KR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561095" y="6143021"/>
            <a:ext cx="10505781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300" b="0" i="0" u="none" strike="noStrike" cap="none" normalizeH="0" baseline="0" smtClean="0">
                <a:ln>
                  <a:noFill/>
                </a:ln>
                <a:solidFill>
                  <a:srgbClr val="666666"/>
                </a:solidFill>
                <a:effectLst/>
                <a:latin typeface="Arial Unicode MS" panose="020B0604020202020204" pitchFamily="50" charset="-127"/>
                <a:ea typeface="inherit"/>
              </a:rPr>
              <a:t>다양한 이상 사례가 있으나 정상데이터를 기반으로 이상탐지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553478" y="1038666"/>
            <a:ext cx="1001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b="1" smtClean="0">
                <a:solidFill>
                  <a:srgbClr val="000000"/>
                </a:solidFill>
                <a:latin typeface="Roboto"/>
              </a:rPr>
              <a:t>*AIHUB</a:t>
            </a:r>
            <a:endParaRPr lang="ko-KR" altLang="en-US" b="1" i="0">
              <a:solidFill>
                <a:srgbClr val="000000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2708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40F18AB4-76F7-3EE0-A528-CF5EB7C939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mtClean="0"/>
              <a:t>3. </a:t>
            </a:r>
            <a:r>
              <a:rPr lang="ko-KR" altLang="en-US" smtClean="0"/>
              <a:t>실험</a:t>
            </a:r>
            <a:r>
              <a:rPr lang="en-US" altLang="ko-KR" smtClean="0"/>
              <a:t> </a:t>
            </a:r>
            <a:r>
              <a:rPr lang="ko-KR" altLang="en-US" smtClean="0"/>
              <a:t>개요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2494421" y="1881906"/>
            <a:ext cx="3065141" cy="62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Convolutional Autoencoder</a:t>
            </a:r>
            <a:endParaRPr lang="ko-KR" altLang="en-US" sz="1100" b="1"/>
          </a:p>
        </p:txBody>
      </p:sp>
      <p:sp>
        <p:nvSpPr>
          <p:cNvPr id="23" name="직사각형 22"/>
          <p:cNvSpPr/>
          <p:nvPr/>
        </p:nvSpPr>
        <p:spPr>
          <a:xfrm>
            <a:off x="5651508" y="1881906"/>
            <a:ext cx="3065141" cy="62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PaDiM </a:t>
            </a:r>
          </a:p>
          <a:p>
            <a:pPr algn="ctr"/>
            <a:r>
              <a:rPr lang="en-US" altLang="ko-KR" sz="1100" b="1"/>
              <a:t>(Patch Distribution Modeling, Density-based)</a:t>
            </a:r>
            <a:endParaRPr lang="ko-KR" altLang="en-US" sz="1100" b="1"/>
          </a:p>
        </p:txBody>
      </p:sp>
      <p:sp>
        <p:nvSpPr>
          <p:cNvPr id="24" name="직사각형 23"/>
          <p:cNvSpPr/>
          <p:nvPr/>
        </p:nvSpPr>
        <p:spPr>
          <a:xfrm>
            <a:off x="8808595" y="1881906"/>
            <a:ext cx="3065141" cy="620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PatchCore (Distance-based)</a:t>
            </a:r>
            <a:endParaRPr lang="ko-KR" altLang="en-US" sz="1100" b="1"/>
          </a:p>
        </p:txBody>
      </p:sp>
      <p:sp>
        <p:nvSpPr>
          <p:cNvPr id="25" name="직사각형 24"/>
          <p:cNvSpPr/>
          <p:nvPr/>
        </p:nvSpPr>
        <p:spPr>
          <a:xfrm>
            <a:off x="225224" y="3283698"/>
            <a:ext cx="2127183" cy="558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/>
              <a:t>학습방식</a:t>
            </a:r>
            <a:endParaRPr lang="ko-KR" altLang="en-US" sz="1200" b="1"/>
          </a:p>
        </p:txBody>
      </p:sp>
      <p:sp>
        <p:nvSpPr>
          <p:cNvPr id="26" name="직사각형 25"/>
          <p:cNvSpPr/>
          <p:nvPr/>
        </p:nvSpPr>
        <p:spPr>
          <a:xfrm>
            <a:off x="225224" y="4005592"/>
            <a:ext cx="2127183" cy="558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/>
              <a:t>감지범위</a:t>
            </a:r>
            <a:endParaRPr lang="ko-KR" altLang="en-US" sz="1200" b="1"/>
          </a:p>
        </p:txBody>
      </p:sp>
      <p:sp>
        <p:nvSpPr>
          <p:cNvPr id="27" name="직사각형 26"/>
          <p:cNvSpPr/>
          <p:nvPr/>
        </p:nvSpPr>
        <p:spPr>
          <a:xfrm>
            <a:off x="225224" y="4727486"/>
            <a:ext cx="2127183" cy="558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/>
              <a:t>탐지방법</a:t>
            </a:r>
            <a:endParaRPr lang="ko-KR" altLang="en-US" sz="1200" b="1"/>
          </a:p>
        </p:txBody>
      </p:sp>
      <p:sp>
        <p:nvSpPr>
          <p:cNvPr id="29" name="직사각형 28"/>
          <p:cNvSpPr/>
          <p:nvPr/>
        </p:nvSpPr>
        <p:spPr>
          <a:xfrm>
            <a:off x="225224" y="5449378"/>
            <a:ext cx="2127183" cy="558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/>
              <a:t>평가 지표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2488639" y="3283699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비지도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645726" y="3283699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비지도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8802813" y="3283699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비지도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488639" y="4005592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픽셀</a:t>
            </a:r>
            <a:r>
              <a:rPr lang="en-US" altLang="ko-KR" sz="1400" smtClean="0">
                <a:solidFill>
                  <a:schemeClr val="tx1"/>
                </a:solidFill>
              </a:rPr>
              <a:t>-&gt;</a:t>
            </a:r>
            <a:r>
              <a:rPr lang="ko-KR" altLang="en-US" sz="1400" smtClean="0">
                <a:solidFill>
                  <a:schemeClr val="tx1"/>
                </a:solidFill>
              </a:rPr>
              <a:t>히트맵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645726" y="4005592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픽셀</a:t>
            </a:r>
            <a:r>
              <a:rPr lang="en-US" altLang="ko-KR" sz="1400" smtClean="0">
                <a:solidFill>
                  <a:schemeClr val="tx1"/>
                </a:solidFill>
              </a:rPr>
              <a:t>-&gt;</a:t>
            </a:r>
            <a:r>
              <a:rPr lang="ko-KR" altLang="en-US" sz="1400" smtClean="0">
                <a:solidFill>
                  <a:schemeClr val="tx1"/>
                </a:solidFill>
              </a:rPr>
              <a:t>픽셀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8802813" y="4005592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픽셀</a:t>
            </a:r>
            <a:r>
              <a:rPr lang="en-US" altLang="ko-KR" sz="1400" smtClean="0">
                <a:solidFill>
                  <a:schemeClr val="tx1"/>
                </a:solidFill>
              </a:rPr>
              <a:t>-&gt;</a:t>
            </a:r>
            <a:r>
              <a:rPr lang="ko-KR" altLang="en-US" sz="1400" smtClean="0">
                <a:solidFill>
                  <a:schemeClr val="tx1"/>
                </a:solidFill>
              </a:rPr>
              <a:t>픽셀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488639" y="4727485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정상 이미지를 잘 복원시키고</a:t>
            </a:r>
            <a:r>
              <a:rPr lang="en-US" altLang="ko-KR" sz="1200">
                <a:solidFill>
                  <a:schemeClr val="tx1"/>
                </a:solidFill>
              </a:rPr>
              <a:t>, </a:t>
            </a:r>
            <a:r>
              <a:rPr lang="ko-KR" altLang="en-US" sz="1200">
                <a:solidFill>
                  <a:schemeClr val="tx1"/>
                </a:solidFill>
              </a:rPr>
              <a:t>재구성 </a:t>
            </a:r>
            <a:endParaRPr lang="en-US" altLang="ko-KR" sz="1200" smtClean="0">
              <a:solidFill>
                <a:schemeClr val="tx1"/>
              </a:solidFill>
            </a:endParaRPr>
          </a:p>
          <a:p>
            <a:r>
              <a:rPr lang="ko-KR" altLang="en-US" sz="1200" smtClean="0">
                <a:solidFill>
                  <a:schemeClr val="tx1"/>
                </a:solidFill>
              </a:rPr>
              <a:t>오차로 </a:t>
            </a:r>
            <a:r>
              <a:rPr lang="ko-KR" altLang="en-US" sz="1200">
                <a:solidFill>
                  <a:schemeClr val="tx1"/>
                </a:solidFill>
              </a:rPr>
              <a:t>이상 탐지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645726" y="4727485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각 위치의 정상 </a:t>
            </a:r>
            <a:r>
              <a:rPr lang="en-US" altLang="ko-KR" sz="1200">
                <a:solidFill>
                  <a:schemeClr val="tx1"/>
                </a:solidFill>
              </a:rPr>
              <a:t>feature </a:t>
            </a:r>
            <a:r>
              <a:rPr lang="ko-KR" altLang="en-US" sz="1200" smtClean="0">
                <a:solidFill>
                  <a:schemeClr val="tx1"/>
                </a:solidFill>
              </a:rPr>
              <a:t>분포를 </a:t>
            </a:r>
            <a:r>
              <a:rPr lang="ko-KR" altLang="en-US" sz="1200">
                <a:solidFill>
                  <a:schemeClr val="tx1"/>
                </a:solidFill>
              </a:rPr>
              <a:t>학습하고 </a:t>
            </a:r>
            <a:r>
              <a:rPr lang="en-US" altLang="ko-KR" sz="1200">
                <a:solidFill>
                  <a:schemeClr val="tx1"/>
                </a:solidFill>
              </a:rPr>
              <a:t>Mahalanobis </a:t>
            </a:r>
            <a:r>
              <a:rPr lang="ko-KR" altLang="en-US" sz="1200">
                <a:solidFill>
                  <a:schemeClr val="tx1"/>
                </a:solidFill>
              </a:rPr>
              <a:t>거리로 이상도 계산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8802813" y="4727485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/>
                </a:solidFill>
              </a:rPr>
              <a:t>정상 </a:t>
            </a:r>
            <a:r>
              <a:rPr lang="ko-KR" altLang="en-US" sz="1200" smtClean="0">
                <a:solidFill>
                  <a:schemeClr val="tx1"/>
                </a:solidFill>
              </a:rPr>
              <a:t>패치를 </a:t>
            </a:r>
            <a:r>
              <a:rPr lang="en-US" altLang="ko-KR" sz="1200">
                <a:solidFill>
                  <a:schemeClr val="tx1"/>
                </a:solidFill>
              </a:rPr>
              <a:t>Memory Bank</a:t>
            </a:r>
            <a:r>
              <a:rPr lang="ko-KR" altLang="en-US" sz="1200">
                <a:solidFill>
                  <a:schemeClr val="tx1"/>
                </a:solidFill>
              </a:rPr>
              <a:t>에 저장하고 </a:t>
            </a:r>
            <a:r>
              <a:rPr lang="en-US" altLang="ko-KR" sz="1200">
                <a:solidFill>
                  <a:schemeClr val="tx1"/>
                </a:solidFill>
              </a:rPr>
              <a:t>Nearest Neighbor </a:t>
            </a:r>
            <a:r>
              <a:rPr lang="ko-KR" altLang="en-US" sz="1200">
                <a:solidFill>
                  <a:schemeClr val="tx1"/>
                </a:solidFill>
              </a:rPr>
              <a:t>거리로 이상 탐지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488639" y="5449378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AUROC / Pixel AUROC / PRO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645726" y="5449378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AUROC / PRO / sPRO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802813" y="5449378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AUROC / Pixel AUROC / PRO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25224" y="2561802"/>
            <a:ext cx="2127183" cy="558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/>
              <a:t>매커니즘</a:t>
            </a:r>
            <a:endParaRPr lang="ko-KR" altLang="en-US" sz="1200" b="1"/>
          </a:p>
        </p:txBody>
      </p:sp>
      <p:sp>
        <p:nvSpPr>
          <p:cNvPr id="46" name="직사각형 45"/>
          <p:cNvSpPr/>
          <p:nvPr/>
        </p:nvSpPr>
        <p:spPr>
          <a:xfrm>
            <a:off x="2488639" y="2561803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재구성 기반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645726" y="2561803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확률</a:t>
            </a:r>
            <a:r>
              <a:rPr lang="en-US" altLang="ko-KR" sz="1400" smtClean="0">
                <a:solidFill>
                  <a:schemeClr val="tx1"/>
                </a:solidFill>
              </a:rPr>
              <a:t>/</a:t>
            </a:r>
            <a:r>
              <a:rPr lang="ko-KR" altLang="en-US" sz="1400" smtClean="0">
                <a:solidFill>
                  <a:schemeClr val="tx1"/>
                </a:solidFill>
              </a:rPr>
              <a:t>분포 기반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8802813" y="2561803"/>
            <a:ext cx="3065141" cy="558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임베딩 공간 기반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0B41DE77-A12C-362E-8112-02F21F04A305}"/>
              </a:ext>
            </a:extLst>
          </p:cNvPr>
          <p:cNvSpPr txBox="1"/>
          <p:nvPr/>
        </p:nvSpPr>
        <p:spPr>
          <a:xfrm>
            <a:off x="828464" y="1041236"/>
            <a:ext cx="460351" cy="584775"/>
          </a:xfrm>
          <a:prstGeom prst="rect">
            <a:avLst/>
          </a:prstGeom>
          <a:solidFill>
            <a:srgbClr val="B923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mtClean="0">
                <a:gradFill>
                  <a:gsLst>
                    <a:gs pos="8300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목표</a:t>
            </a:r>
            <a:endParaRPr lang="ko-KR" altLang="en-US" sz="1600" dirty="0">
              <a:gradFill>
                <a:gsLst>
                  <a:gs pos="8300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363549" y="1023277"/>
            <a:ext cx="80762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b="1" smtClean="0">
                <a:solidFill>
                  <a:srgbClr val="000000"/>
                </a:solidFill>
                <a:latin typeface="Roboto"/>
              </a:rPr>
              <a:t>각 매커니즘별로 비교실험을 통해 </a:t>
            </a:r>
            <a:r>
              <a:rPr lang="ko-KR" altLang="en-US" b="1" smtClean="0"/>
              <a:t>교량 외관점검이라는 실제 </a:t>
            </a:r>
            <a:r>
              <a:rPr lang="ko-KR" altLang="en-US" b="1"/>
              <a:t>산업 </a:t>
            </a:r>
            <a:r>
              <a:rPr lang="ko-KR" altLang="en-US" b="1"/>
              <a:t>문제에서 </a:t>
            </a:r>
            <a:endParaRPr lang="en-US" altLang="ko-KR" b="1" smtClean="0"/>
          </a:p>
          <a:p>
            <a:pPr fontAlgn="base"/>
            <a:r>
              <a:rPr lang="ko-KR" altLang="en-US" b="1" smtClean="0"/>
              <a:t>어떤 </a:t>
            </a:r>
            <a:r>
              <a:rPr lang="ko-KR" altLang="en-US" b="1"/>
              <a:t>이상탐지 </a:t>
            </a:r>
            <a:r>
              <a:rPr lang="ko-KR" altLang="en-US" b="1" smtClean="0"/>
              <a:t>매커니즘이 </a:t>
            </a:r>
            <a:r>
              <a:rPr lang="ko-KR" altLang="en-US" b="1"/>
              <a:t>가장 </a:t>
            </a:r>
            <a:r>
              <a:rPr lang="ko-KR" altLang="en-US" b="1" smtClean="0"/>
              <a:t>적합한지 확인해보는것</a:t>
            </a:r>
            <a:endParaRPr lang="ko-KR" altLang="en-US" b="1" i="0">
              <a:solidFill>
                <a:srgbClr val="000000"/>
              </a:solidFill>
              <a:effectLst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9842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FB55819-2204-898B-39E2-7C4F45544A6B}"/>
              </a:ext>
            </a:extLst>
          </p:cNvPr>
          <p:cNvSpPr txBox="1"/>
          <p:nvPr/>
        </p:nvSpPr>
        <p:spPr>
          <a:xfrm>
            <a:off x="6598784" y="2844225"/>
            <a:ext cx="2095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gradFill>
                  <a:gsLst>
                    <a:gs pos="8300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감사합니다</a:t>
            </a:r>
            <a:r>
              <a:rPr lang="en-US" altLang="ko-KR" sz="3200" dirty="0">
                <a:gradFill>
                  <a:gsLst>
                    <a:gs pos="8300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ko-KR" altLang="en-US" sz="3200" dirty="0">
              <a:gradFill>
                <a:gsLst>
                  <a:gs pos="8300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0766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defRPr sz="1600" dirty="0" smtClean="0">
            <a:gradFill>
              <a:gsLst>
                <a:gs pos="83000">
                  <a:schemeClr val="tx1"/>
                </a:gs>
                <a:gs pos="100000">
                  <a:schemeClr val="tx1"/>
                </a:gs>
              </a:gsLst>
              <a:lin ang="5400000" scaled="1"/>
            </a:gradFill>
            <a:latin typeface="KoPub돋움체 Medium" panose="00000600000000000000" pitchFamily="2" charset="-127"/>
            <a:ea typeface="KoPub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257</Words>
  <Application>Microsoft Office PowerPoint</Application>
  <PresentationFormat>와이드스크린</PresentationFormat>
  <Paragraphs>49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Arial Unicode MS</vt:lpstr>
      <vt:lpstr>inherit</vt:lpstr>
      <vt:lpstr>KoPub돋움체 Medium</vt:lpstr>
      <vt:lpstr>KoPub돋움체 Bold</vt:lpstr>
      <vt:lpstr>Roboto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은혜 이</dc:creator>
  <cp:lastModifiedBy>추연교</cp:lastModifiedBy>
  <cp:revision>10</cp:revision>
  <dcterms:created xsi:type="dcterms:W3CDTF">2025-11-11T10:14:49Z</dcterms:created>
  <dcterms:modified xsi:type="dcterms:W3CDTF">2025-11-29T12:38:57Z</dcterms:modified>
</cp:coreProperties>
</file>